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761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7315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5486400" cy="7315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68112" y="0"/>
            <a:ext cx="45720" cy="5143500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2011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  ·  MRTB2123 BUSINESS ANALYTICS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512064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EE4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Shopee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02920" y="140817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Customer Intelligence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Marketing Optimisation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Competitive Digital Marketplace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164592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TEAM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8895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 Syukri  ·  MRT254044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 Wai San  ·  MRT254005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Aisyah Binti Ahmad Zaki  ·  MRT254043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6027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Rosmaili Binti Ibrahim  ·  MRT254015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Erwan Fadly Bin Sudiman  ·  MRT254011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42062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Assoc. Prof Ts Dr Nur Azaliah bt Abu Bakar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0" y="6400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ANALYTICS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REPORT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0" y="1664208"/>
            <a:ext cx="2560320" cy="36576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828800"/>
            <a:ext cx="3200400" cy="512064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52160" y="18288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Problem Understanding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414016"/>
            <a:ext cx="3200400" cy="512064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52160" y="241401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Analytical Diagnosis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999232"/>
            <a:ext cx="3200400" cy="512064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0" y="299923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Analytics Framework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3584448"/>
            <a:ext cx="3200400" cy="512064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52160" y="358444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Strategic Evaluation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4169664"/>
            <a:ext cx="3200400" cy="512064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852160" y="41696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Solution &amp; Implementation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0" y="48646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Business Intelligence &amp; Analytics (AI)  ·  Universiti Teknologi Malaysia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Data-Rich to Intelligence-Led: The Shopee Challenge</a:t>
            </a:r>
          </a:p>
          <a:p>
            <a:pPr marL="0" indent="0" algn="l">
              <a:buNone/>
            </a:pPr>
            <a:endParaRPr lang="en-US" sz="2600" b="1" dirty="0">
              <a:solidFill>
                <a:srgbClr val="2D2D2D"/>
              </a:solidFill>
              <a:latin typeface="Cambria" pitchFamily="34" charset="0"/>
              <a:ea typeface="Cambria" pitchFamily="34" charset="-122"/>
            </a:endParaRPr>
          </a:p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060704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60704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THE PROBLEM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49961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GMV growing but margins declining. Four structural gaps: data fragmentation, descriptive-only analytics, weak segmentation, and poor recommendations create a compounding feedback loop.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00600" y="1060704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060704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5192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THE DIAGNOSIS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65192" y="149961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reinforces the others, keeping Shopee at the descriptive stage of the Analytics Maturity Model — analytically immature relative to AI-native competitors.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THE FRAMEWORK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23697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solution: CDP foundation, behavioural descriptive, predictive (clustering, churn, CLV), and prescriptive (hybrid recommendations, next-best-action optimisation).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00600" y="2798064"/>
            <a:ext cx="41605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800600" y="2798064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65192" y="29443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THE STRATEGY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5192" y="3236976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hybrid approach: mass + personalised marketing, rule-based + AI systems, CLV-led retention. Three-phase roadmap. Target: CLV:CAC ratio exceeding 3:1.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MRTB2123 Business Analytics  ·  Universiti Teknologi Malaysia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1: Shopee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PROBLEM UNDERSTANDING AND CONTEXTUALISATION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 and Central Challenge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4023360" cy="36210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402336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115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1792" y="13716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Dominant e-commerce platform across 7 SEA markets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801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GMV and active users growing strongly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2311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Operating margins under persistent pressure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26609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Rising CAC and escalating promotional expenditure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3090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AI-native competitors (TikTok Shop, Lazada) reshaping competitive landscape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1792" y="35204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Strategic imperative: convert data volume into actionable customer intelligence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023360" cy="36210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02336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28032" y="11155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CHALLENGE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28032" y="13716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Shopee design and implement an integrated business analytics strategy that transforms fragmented data into actionable intelligence, enabling precise customer targeting, effective personalisation, and sustainable marketing performance?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28032" y="25054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vs SYSTEMIC CAUSE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28032" y="27797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retention, high churn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93408" y="2852928"/>
            <a:ext cx="36576" cy="23774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84848" y="277977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prediction, weak segmentation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28032" y="3209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CAC, declining ROMI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93408" y="3282696"/>
            <a:ext cx="36576" cy="23774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784848" y="3209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Descriptive-only analytics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36393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campaigns, low CTR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693408" y="3712464"/>
            <a:ext cx="36576" cy="23774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84848" y="36393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customer profiles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erosion from over-discounting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693408" y="4142232"/>
            <a:ext cx="36576" cy="23774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84848" y="4069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distinguish customer types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1: Problem Understanding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Limited (2023); Wang (2022)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ANALYTICAL DIAGNOSIS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Structural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4160520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1133856"/>
            <a:ext cx="420624" cy="42062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1521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Fragmentation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" y="1645920"/>
            <a:ext cx="3822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distributed across disconnected systems. No unified customer ID. Prevents 360-degree profiling and degrades all downstream analytics.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" y="25968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Gopalaswamy (2025)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00600" y="987552"/>
            <a:ext cx="4160520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987552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946904" y="1133856"/>
            <a:ext cx="420624" cy="42062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46904" y="1133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11521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 Analytics Reliance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46904" y="1645920"/>
            <a:ext cx="3822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anchored at "what happened" dashboards. No predictive churn models, no CLV estimation. Strategic decisions are reactive, not proactive.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46904" y="2596896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 &amp; Zdonek (2020)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944368"/>
            <a:ext cx="4160520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944368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" y="3090672"/>
            <a:ext cx="420624" cy="42062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3108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Insufficient Behavioural Segmentation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" y="3602736"/>
            <a:ext cx="3822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defined by GMV or login frequency. Cannot distinguish promotion-dependent from brand-loyal customers. Uniform messaging to heterogeneous users.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3504" y="455371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Lopera (2020); Benjamin (2025)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2944368"/>
            <a:ext cx="4160520" cy="18470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00600" y="2944368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46904" y="3090672"/>
            <a:ext cx="420624" cy="42062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46904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58968" y="31089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Recommendation System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46904" y="3602736"/>
            <a:ext cx="38221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 and historical data only. Repetitive suggestions, limited discovery. Forgoes the data network effect that TikTok Shop exploits.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46904" y="4553712"/>
            <a:ext cx="3822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Mulekar et al. (2026); Wang (2022)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Analytical Diagnosis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limitations operate as a compounding feedback loop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ANALYTICAL DIAGNOSIS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Compounding Feedback Loop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005840"/>
            <a:ext cx="1920240" cy="91440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0607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customer 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1920240" cy="91440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06070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Descriptive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Only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1609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decisions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35040" y="3108960"/>
            <a:ext cx="1920240" cy="91440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31638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0" y="3712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Low-quality data loop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1920240" cy="91440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316382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Behavioural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71600" y="37124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in, garbage out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37560" y="1426464"/>
            <a:ext cx="2651760" cy="5486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37560" y="3529584"/>
            <a:ext cx="2651760" cy="54864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313432" y="1956816"/>
            <a:ext cx="54864" cy="11155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04304" y="1956816"/>
            <a:ext cx="54864" cy="111556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66160" y="2084832"/>
            <a:ext cx="2194560" cy="877824"/>
          </a:xfrm>
          <a:prstGeom prst="rect">
            <a:avLst/>
          </a:prstGeom>
          <a:solidFill>
            <a:srgbClr val="FDE8E3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66160" y="2084832"/>
            <a:ext cx="2194560" cy="36576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0" y="2084832"/>
            <a:ext cx="2194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4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VICIOUS CYCLE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2976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reinforces the others. Data fragmentation degrades segmentation. Poor segmentation produces unreliable predictive outputs, pushing the organisation back toward descriptive-only reporting, while a weak recommendation system starves the analytical layers of useful signal.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2: Analytical Diagnosis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 &amp; Zdonek (2020); Gopalaswamy (2025)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ANALYTICS APPLICATION FRAMEWORK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Four-Layer Architecture: From Fragmentation to Intelligence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41248" cy="8229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87552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89888" y="987552"/>
            <a:ext cx="73883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89888" y="987552"/>
            <a:ext cx="7388352" cy="1828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5448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54480" y="12618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Customer Data Platform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1517904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resolution across all touchpoints. Single persistent customer ID unifying transactional, browsing, campaign, and demographic data.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841248" cy="82296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1920240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89888" y="1920240"/>
            <a:ext cx="73883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89888" y="1920240"/>
            <a:ext cx="7388352" cy="1828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54480" y="20116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54480" y="2194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Behavioural Metric Dashboards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450592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Restructured from aggregate GMV to individual-level signals: browse-to-purchase ratio, discount-redemption rate, category dwell time.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852928"/>
            <a:ext cx="841248" cy="822960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852928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389888" y="2852928"/>
            <a:ext cx="73883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89888" y="2852928"/>
            <a:ext cx="7388352" cy="36576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54480" y="29443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554480" y="31272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· Churn Prediction · CLV Estimation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554480" y="33832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segmentation via K-Means, churn probability scoring via XGBoost/LightGBM, CLV modelling via BG/NBD + Gamma-Gamma.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785616"/>
            <a:ext cx="841248" cy="82296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785616"/>
            <a:ext cx="841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389888" y="3785616"/>
            <a:ext cx="7388352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89888" y="3785616"/>
            <a:ext cx="7388352" cy="36576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54480" y="38770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554480" y="40599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Recommendation Engine + Next-Best-Action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554480" y="431596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+ content-based + real-time signals. Next-best-action determines personalised promotional treatment per segment.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depends on the output below it — designed to invert the compounding feedback loop from vicious to virtuous cycle.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Analytics Application Framework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reverses direction of compounding feedback loop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FRAMEWORK  ·  LAYER 1 &amp;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Foundation and Behavioural Descriptive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4114800" cy="34747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·  UNIFIED CUSTOMER DATA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408176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Consolidates: transactional records, browsing behaviour, campaign interactions, demographic profiles, seller signals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920240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persistent customer ID enables 360-degree customer view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1792" y="2432304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Real-time segmentation and activation capability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2944368"/>
            <a:ext cx="3767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Prerequisite for every analytical layer above it — without this, all downstream models are unreliable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1792" y="446227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Gopalaswamy (2025)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987552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114800" cy="34747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09744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·  BEHAVIOURAL METRIC DASHBOARDS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14081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Browse-to-purchase ratio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76288" y="14081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views before conversion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28032" y="1828800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28032" y="18653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dwell time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76288" y="18653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depth per category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2286000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23225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Discount-redemption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23225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voucher-dependent purchases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2743200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27797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recency and frequency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76288" y="27797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trend by channel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28032" y="3200400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28032" y="32369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Cart-abandonment frequency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76288" y="323697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risk signal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446227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Krol &amp; Zdonek (2020)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Analytics Application Framework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CDP resolves data fragmentation — prerequisite for all analytics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FRAMEWORK  ·  LAYER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Analytics: Three Techniques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272491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2724912" cy="384048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9875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98755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Behavioural Segmentation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3504" y="1463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3504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Extended RFM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" y="19933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03504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Promotion-dependent buyers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Brand-loyal customers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" y="2962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Convenience-oriented shoppers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" y="33467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High-intent browsers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3504" y="43708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Lopera (2020); Benjamin (2025)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55848" y="987552"/>
            <a:ext cx="272491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55848" y="987552"/>
            <a:ext cx="2724912" cy="384048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47288" y="9875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31336" y="98755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Prediction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02152" y="1463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02152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02152" y="19933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502152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Declining session frequency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02152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Increasing time since last purchase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502152" y="2962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Repeated cart abandonment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02152" y="33467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Reduced campaign engagement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02152" y="43708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Imani et al. (2025)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254496" y="987552"/>
            <a:ext cx="2724912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254496" y="987552"/>
            <a:ext cx="2724912" cy="38404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45936" y="9875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9984" y="987552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 Estimation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14630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40080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+ Gamma-Gamma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199339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OUTPUTS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00800" y="219456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Expected future purchase frequency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25786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Expected monetary value per purchase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0" y="2962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Per-customer and per-segment budgeting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00800" y="33467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Analytical basis for CLV-led strategy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437083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Farris et al. (2015)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Analytics Application Framework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layer converts data into forward-looking intelligence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FRAMEWORK  ·  LAYER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Prescriptive Analytics: Highest Value Layer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4114800" cy="34747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HYBRID RECOMMENDATION ENGINE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40817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719072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favoured by users with similar behavioural profiles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" y="2048256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12140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" y="2432304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products to established category and attribute preferences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" y="2761488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28346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" y="314553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Incorporates current browsing session, not only historical purchases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" y="3474720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5478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Serendipity Injection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" y="3858768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surfaces new categories to prevent filter bubble formation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4462272"/>
            <a:ext cx="3767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Mulekar et al. (2026); Wang (2022)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987552"/>
            <a:ext cx="4114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987552"/>
            <a:ext cx="4114800" cy="34747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9744" y="987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NEXT-BEST-ACTION OPTIMISATION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28032" y="14081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36208" y="14081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61504" y="140817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28032" y="1645920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28032" y="1700784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Promotion-Dependent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36208" y="1700784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risk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CLV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61504" y="1700784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voucher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(time-limited)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28032" y="2414016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28032" y="2450592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Brand-Loyal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36208" y="2450592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churn risk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CLV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61504" y="2450592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discount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(margin preserved)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3163824"/>
            <a:ext cx="3749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28032" y="3200400"/>
            <a:ext cx="1371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Browser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36208" y="3200400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Pre-conversion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CLV potential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61504" y="3200400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28032" y="42428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through structured A/B testing. Replaces ad hoc experimentation noted in Section 2.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28032" y="45537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Operationalises segments from Layer 3.4.1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3: Analytics Application Framework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layer converts predictions into optimal, segment-specific actions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4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39712" y="0"/>
            <a:ext cx="45720" cy="5143500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389888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</a:t>
            </a:r>
            <a:endParaRPr lang="en-US" sz="5000" dirty="0"/>
          </a:p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0906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three strategic pairs across four dimensions: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3649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·  Cost-Effectiveness  ·  Ethical Risk  ·  Competitive Positioning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4904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374904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Marketing vs Personalised Marketing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32688" y="402336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vs AI-Driven Systems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32688" y="429768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5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Promotion-Led vs CLV-Led Retention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109728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Interpretation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2926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EVALUATION  ·  4.1.1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Mass Marketing versus Personalised Marketing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8302752" cy="32918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69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9692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50992" y="9692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MARKETING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16736"/>
            <a:ext cx="1920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316736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316736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316736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uniform deployment, low complexity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59552" y="1316736"/>
            <a:ext cx="3200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50992" y="1316736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with ML infrastructure — scales to millions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192024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938528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Cost-Effectiveness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938528"/>
            <a:ext cx="301752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1938528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ROMI — budget wasted on irrelevant audiences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59552" y="1938528"/>
            <a:ext cx="320040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50992" y="1938528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long-term ROMI — superior unit economics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1920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560320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Risk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2560320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0" y="2560320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no individual targeting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59552" y="2560320"/>
            <a:ext cx="3200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50992" y="2560320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Moderate-High — PDPA compliance, consent required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192024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182112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3182112"/>
            <a:ext cx="301752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3182112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easily replicated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59552" y="3182112"/>
            <a:ext cx="320040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50992" y="3182112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aligns with industry direction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803904"/>
            <a:ext cx="1920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803904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Impact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3803904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0320" y="3803904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reinforces discount dependency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59552" y="3803904"/>
            <a:ext cx="3200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50992" y="3803904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raises CLV:CAC ratio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5171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(2021): Personalisation generates 2-5x improvement in conversion rates. Amazon: 35% of revenue attributed to personalised recommendations (Matz et al., 2017).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Strategic Evaluation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 et al. (2019); Kumar &amp; Reinartz (2018); Zuboff (2019)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EVALUATION  ·  4.1.2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Systems versus AI-Driven Systems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8302752" cy="32918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69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96926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50992" y="96926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SYSTEMS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16736"/>
            <a:ext cx="1920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316736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316736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316736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— manual rule authoring required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59552" y="1316736"/>
            <a:ext cx="3200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50992" y="1316736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— models improve with data volume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192024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938528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Cost-Effectiveness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938528"/>
            <a:ext cx="301752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1938528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initial; high long-term maintenance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59552" y="1938528"/>
            <a:ext cx="320040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50992" y="1938528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initial; scalable unit economics at scale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1920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560320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Risk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2560320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0" y="2560320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transparent and auditable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59552" y="2560320"/>
            <a:ext cx="3200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50992" y="2560320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algorithmic bias, opacity, filter bubbles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192024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182112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3182112"/>
            <a:ext cx="301752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3182112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cannot match ML-native competitors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59552" y="3182112"/>
            <a:ext cx="3200400" cy="603504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50992" y="3182112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— required to close gap with TikTok Shop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803904"/>
            <a:ext cx="19202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803904"/>
            <a:ext cx="181051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3803904"/>
            <a:ext cx="30175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0320" y="3803904"/>
            <a:ext cx="290779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brittle under behavioural shifts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59552" y="3803904"/>
            <a:ext cx="3200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50992" y="3803904"/>
            <a:ext cx="3090672" cy="6035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continuous learning from interactions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451713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Shop's AI-driven loop generates a data network effect: recommendation quality compounds as the user base grows, creating advantage structurally difficult for rule-based competitors to replicate (Wang, 2022).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Strategic Evaluation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 (2016); Jannach &amp; Adomavicius (2016); Pariser (2011)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EVALUATION  ·  4.1.3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Promotion-Led Acquisition versus CLV-Led Retention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402336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9264"/>
            <a:ext cx="4023360" cy="34747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96926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PROMOTION-LED ACQUISITION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38988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Strong GMV and user count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" y="1773936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Structurally unprofitable customer cohorts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" y="215798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CLV:CAC ratio below 1:1 for large user segments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54203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Subsidy spiral: reducing promotions triggers GMV decline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69264"/>
            <a:ext cx="4023360" cy="208483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969264"/>
            <a:ext cx="4023360" cy="34747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28032" y="969264"/>
            <a:ext cx="3712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CLV-LED RETENTION  ✓  RECOMMENDED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38988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Predictive CLV modelling per customer and segment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1773936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Budget allocated proportional to long-term value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2157984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 KPI: CLV:CAC ratio exceeding 3:1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28032" y="254203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Directly operationalises behavioural segmentation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EVALUATION MATRIX SUMMARY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438144"/>
            <a:ext cx="8357616" cy="25603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438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4381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33088" y="343814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Cost-Eff.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34381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Risk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04304" y="343814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712464"/>
            <a:ext cx="2103120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2064" y="3712464"/>
            <a:ext cx="202996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Marketing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606040" y="3712464"/>
            <a:ext cx="1389888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60904" y="371246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41648" y="3712464"/>
            <a:ext cx="1408176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096512" y="3712464"/>
            <a:ext cx="13350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0" y="3712464"/>
            <a:ext cx="1389888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41264" y="371246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12864" y="3712464"/>
            <a:ext cx="1901952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67728" y="3712464"/>
            <a:ext cx="18288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895344"/>
            <a:ext cx="21031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12064" y="3895344"/>
            <a:ext cx="202996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Marketing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06040" y="3895344"/>
            <a:ext cx="138988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660904" y="389534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(ML)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041648" y="3895344"/>
            <a:ext cx="1408176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096512" y="3895344"/>
            <a:ext cx="13350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486400" y="3895344"/>
            <a:ext cx="138988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541264" y="389534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12864" y="3895344"/>
            <a:ext cx="190195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967728" y="3895344"/>
            <a:ext cx="18288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57200" y="4078224"/>
            <a:ext cx="2103120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12064" y="4078224"/>
            <a:ext cx="202996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606040" y="4078224"/>
            <a:ext cx="1389888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60904" y="407822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041648" y="4078224"/>
            <a:ext cx="1408176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096512" y="4078224"/>
            <a:ext cx="13350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486400" y="4078224"/>
            <a:ext cx="1389888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541264" y="407822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912864" y="4078224"/>
            <a:ext cx="1901952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967728" y="4078224"/>
            <a:ext cx="18288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57200" y="4261104"/>
            <a:ext cx="21031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12064" y="4261104"/>
            <a:ext cx="202996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Systems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606040" y="4261104"/>
            <a:ext cx="138988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660904" y="426110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041648" y="4261104"/>
            <a:ext cx="1408176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096512" y="4261104"/>
            <a:ext cx="13350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486400" y="4261104"/>
            <a:ext cx="138988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5541264" y="426110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912864" y="4261104"/>
            <a:ext cx="190195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967728" y="4261104"/>
            <a:ext cx="18288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57200" y="4443984"/>
            <a:ext cx="2103120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512064" y="4443984"/>
            <a:ext cx="202996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Promotion-Led Acquisition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2606040" y="4443984"/>
            <a:ext cx="1389888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660904" y="444398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041648" y="4443984"/>
            <a:ext cx="1408176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096512" y="4443984"/>
            <a:ext cx="13350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486400" y="4443984"/>
            <a:ext cx="1389888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541264" y="444398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912864" y="4443984"/>
            <a:ext cx="1901952" cy="182880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967728" y="4443984"/>
            <a:ext cx="18288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57200" y="4626864"/>
            <a:ext cx="210312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512064" y="4626864"/>
            <a:ext cx="202996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CLV-Led Retention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606040" y="4626864"/>
            <a:ext cx="138988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2660904" y="462686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(ML)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4041648" y="4626864"/>
            <a:ext cx="1408176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096512" y="4626864"/>
            <a:ext cx="13350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486400" y="4626864"/>
            <a:ext cx="1389888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541264" y="4626864"/>
            <a:ext cx="131673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912864" y="4626864"/>
            <a:ext cx="1901952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967728" y="4626864"/>
            <a:ext cx="18288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Strategic Evaluation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Gupta et al. (2006); Farris et al. (2015); Kumar &amp; Reinartz (2018)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EVALUATION  ·  4.1.4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Ethical Implications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2724912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9264"/>
            <a:ext cx="2724912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5216" y="1097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Privacy &amp; PDPA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85216" y="1517904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consent, data minimisation, and usage policies embedded at collection point — not post-deployment. Across all 7 SEA markets.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542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Zarsky (2016)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55848" y="969264"/>
            <a:ext cx="2724912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55848" y="969264"/>
            <a:ext cx="2724912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83864" y="1097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Bias &amp; Fairness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83864" y="1517904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risk encoding existing biases. Systematic auditing across merchant categories, languages, and user demographics is required.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83864" y="2542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Barocas et al. (2019)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54496" y="969264"/>
            <a:ext cx="2724912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54496" y="969264"/>
            <a:ext cx="2724912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10972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Bubble Prevention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82512" y="1517904"/>
            <a:ext cx="24688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without serendipity injection creates echo chambers. Diversity-aware algorithms are standard design requirements.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82512" y="2542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Pariser (2011)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2889504"/>
            <a:ext cx="41605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889504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301752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Autonomy &amp; Transparency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" y="3438144"/>
            <a:ext cx="39044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Transparency Dashboard — users view, adjust, and opt out of targeting. Ethical safeguard and trust-building commercial asset.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5216" y="446227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Zuboff (2019)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889504"/>
            <a:ext cx="416052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2889504"/>
            <a:ext cx="416052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28616" y="3017520"/>
            <a:ext cx="3904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Explainability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28616" y="3438144"/>
            <a:ext cx="39044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systems must produce human-readable explanations for decisions affecting seller visibility and campaign targeting.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28616" y="4462272"/>
            <a:ext cx="3904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Goodfellow et al. (2016)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Strategic Evaluation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governance is a binding constraint, not a peripheral consideration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EVALUATION  ·  4.2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Phased Hybrid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272491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69264"/>
            <a:ext cx="2724912" cy="475488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96926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15568" y="9875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15568" y="1225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03504" y="1554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603504" y="1755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CDP implementation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3504" y="21214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Improved rule-based segmentation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" y="24871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Mass marketing retained for 11.11, 12.12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" y="3236976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" y="32918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3504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infrastructure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fragmentation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" y="3986784"/>
            <a:ext cx="2423160" cy="64008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" y="40050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3504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55848" y="969264"/>
            <a:ext cx="272491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355848" y="969264"/>
            <a:ext cx="2724912" cy="475488"/>
          </a:xfrm>
          <a:prstGeom prst="rect">
            <a:avLst/>
          </a:prstGeom>
          <a:solidFill>
            <a:srgbClr val="C8350A"/>
          </a:solidFill>
          <a:ln w="12700">
            <a:solidFill>
              <a:srgbClr val="C835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65576" y="96926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14216" y="9875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14216" y="1225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6-18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02152" y="1554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502152" y="1755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ML personalisation deployment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502152" y="21214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CLV modelling and segmentation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02152" y="24871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Hybrid rule-based + AI architecture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02152" y="28529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PDPA compliance framework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502152" y="3236976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02152" y="32918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502152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 &gt; 2:1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retention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502152" y="3986784"/>
            <a:ext cx="2423160" cy="64008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02152" y="40050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502152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CLV:CAC &gt; 2:1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54496" y="969264"/>
            <a:ext cx="2724912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254496" y="969264"/>
            <a:ext cx="2724912" cy="47548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64224" y="969264"/>
            <a:ext cx="512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912864" y="98755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12864" y="12252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F5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18-36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00800" y="155448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400800" y="175564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Explainability modules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212140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Bias auditing — quarterly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00800" y="248716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Serendipity injection algorithms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00800" y="2852928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Personalisation Transparency Dashboard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0" y="3236976"/>
            <a:ext cx="24231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00800" y="329184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400800" y="34930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 &gt; 3:1</a:t>
            </a:r>
            <a:endParaRPr lang="en-US" sz="1050" dirty="0"/>
          </a:p>
          <a:p>
            <a:pPr marL="0" indent="0" algn="l">
              <a:buNone/>
            </a:pPr>
            <a:r>
              <a:rPr lang="en-US" sz="10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00800" y="3986784"/>
            <a:ext cx="2423160" cy="64008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400800" y="400507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400800" y="4206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CLV:CAC &gt; 3:1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4: Strategic Evaluation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CLV:CAC &gt; 3:1 — sustainable digital commerce benchmark (Farris et al., 2015)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SOLUTION DESIGN AND 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9264"/>
            <a:ext cx="8321040" cy="32918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692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969264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87568" y="969264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16736"/>
            <a:ext cx="1920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316736"/>
            <a:ext cx="1810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CDP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68880" y="1316736"/>
            <a:ext cx="3063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316736"/>
            <a:ext cx="2953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all data sources under a single customer 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96128" y="1316736"/>
            <a:ext cx="31821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87568" y="1316736"/>
            <a:ext cx="3072384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customer view, accurate attribution, real-time activation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192024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920240"/>
            <a:ext cx="1810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Segmentation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1920240"/>
            <a:ext cx="306324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60320" y="1920240"/>
            <a:ext cx="2953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purchase intent, loyalty, and churn risk using K-Means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96128" y="1920240"/>
            <a:ext cx="3182112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87568" y="1920240"/>
            <a:ext cx="3072384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targeting, reduced wasted promotional spend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523744"/>
            <a:ext cx="1920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523744"/>
            <a:ext cx="1810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Model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468880" y="2523744"/>
            <a:ext cx="3063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560320" y="2523744"/>
            <a:ext cx="2953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(XGBoost) — trained on behavioural signals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96128" y="2523744"/>
            <a:ext cx="31821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87568" y="2523744"/>
            <a:ext cx="3072384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retention interventions, improved customer profitability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127248"/>
            <a:ext cx="192024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3127248"/>
            <a:ext cx="1810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Estimation Model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0" y="3127248"/>
            <a:ext cx="306324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3127248"/>
            <a:ext cx="2953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BG/NBD + Gamma-Gamma model per customer and segment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96128" y="3127248"/>
            <a:ext cx="3182112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87568" y="3127248"/>
            <a:ext cx="3072384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allocated proportional to projected long-term value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730752"/>
            <a:ext cx="1920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3730752"/>
            <a:ext cx="1810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468880" y="3730752"/>
            <a:ext cx="30632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60320" y="3730752"/>
            <a:ext cx="2953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collaborative + content-based + real-time signal architecture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96128" y="3730752"/>
            <a:ext cx="3182112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687568" y="3730752"/>
            <a:ext cx="3072384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product discovery, higher engagement, larger basket size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334256"/>
            <a:ext cx="192024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4334256"/>
            <a:ext cx="1810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3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468880" y="4334256"/>
            <a:ext cx="3063240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560320" y="4334256"/>
            <a:ext cx="2953512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controls, quarterly bias audits, explainability, customer settings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596128" y="4334256"/>
            <a:ext cx="3182112" cy="585216"/>
          </a:xfrm>
          <a:prstGeom prst="rect">
            <a:avLst/>
          </a:prstGeom>
          <a:solidFill>
            <a:srgbClr val="F7F7F7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87568" y="4334256"/>
            <a:ext cx="3072384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compliance risk, stronger consumer trust across SEA markets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4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Risk Management Framework (2023): Identify, measure, and manage AI-related risks across the full system lifecycle.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Solution Design and Implementation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Gopalaswamy (2025); Imani et al. (2025); NIST (2023)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EXPECTED BUSINESS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Framework and Expected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832104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20116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201168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E4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3:1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 Ratio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(Phase 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87552"/>
            <a:ext cx="20116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06040" y="987552"/>
            <a:ext cx="201168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E4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2-5x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0604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987552"/>
            <a:ext cx="20116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987552"/>
            <a:ext cx="201168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E4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5488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via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987552"/>
            <a:ext cx="20116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987552"/>
            <a:ext cx="201168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107899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E4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0372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1993392"/>
            <a:ext cx="4160520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7200" y="1993392"/>
            <a:ext cx="416052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3504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Efficiency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3504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Reduced duplicated targeting and wasted spend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3504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Improved campaign attribution across channels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3504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Segment-specific messaging and offers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1993392"/>
            <a:ext cx="4160520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1993392"/>
            <a:ext cx="416052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46904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Intelligence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46904" y="24140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Earlier churn interventions via predictive models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46904" y="26883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CLV-directed budget allocation per cohort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46904" y="2962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Elimination of over-discounting to brand-loyal users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438144"/>
            <a:ext cx="4160520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" y="3438144"/>
            <a:ext cx="416052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3504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Competitiveness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3504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Personalisation quality closing gap with TikTok Shop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3504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network effect: quality compounds with growth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3504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Shift from promotion-led to intelligence-led strategy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438144"/>
            <a:ext cx="4160520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50800" dist="1905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00600" y="3438144"/>
            <a:ext cx="416052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46904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Trust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46904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PDPA-compliant architecture across all 7 SEA markets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46904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Quarterly bias audits on recommendation outputs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946904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Personalisation Transparency Dashboard for users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497433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5: Solution Design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72000" y="497433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measured on CLV:CAC ratio, retention rate, conversion rate, campaign ROI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347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E4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Competitive Advantage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Not Data.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Decision Quality.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1828800" cy="45720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761488"/>
            <a:ext cx="201168" cy="20116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7614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32688" y="276148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Shopee's challenge is an analytics-maturity problem, not a marketing-budget problem. Symptom-level interventions are self-defeating.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201168" cy="20116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932688" y="331012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four-layer framework inverts the compounding feedback loop from vicious to virtuous — better data produces better segments, better segments produce better intelligence.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858768"/>
            <a:ext cx="201168" cy="20116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858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32688" y="385876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phased hybrid strategy aligns analytical capability with business strategy at every stage: CDP enables personalisation, personalisation enables CLV-led retention, CLV-led retention enables margin sustainability.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407408"/>
            <a:ext cx="201168" cy="201168"/>
          </a:xfrm>
          <a:prstGeom prst="rect">
            <a:avLst/>
          </a:prstGeom>
          <a:solidFill>
            <a:srgbClr val="EE4D2D"/>
          </a:solidFill>
          <a:ln w="12700">
            <a:solidFill>
              <a:srgbClr val="EE4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407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2688" y="4407408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8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governance is not a compliance cost — it is a competitive differentiator that builds the consumer trust that sustains long-term platform growth.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8463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MRTB2123 Business Analytics  ·  Universiti Teknologi Malaysia  ·  Assoc. Prof Ts Dr Nur Azaliah bt Abu Bakar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ad6f6f2-a951-4904-b531-92e1207fc7a5}" enabled="1" method="Standard" siteId="{b7be7686-6f97-4db7-9081-a23cf09a96b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2451</Words>
  <Application>Microsoft Office PowerPoint</Application>
  <PresentationFormat>On-screen Show (16:9)</PresentationFormat>
  <Paragraphs>464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Rosmaili Binti Ibrahim</cp:lastModifiedBy>
  <cp:revision>2</cp:revision>
  <dcterms:created xsi:type="dcterms:W3CDTF">2026-06-21T15:27:58Z</dcterms:created>
  <dcterms:modified xsi:type="dcterms:W3CDTF">2026-06-21T15:40:07Z</dcterms:modified>
</cp:coreProperties>
</file>